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</a:defRPr>
            </a:pPr>
            <a:r>
              <a:t>Logseq Project Executive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498DB"/>
                </a:solidFill>
              </a:defRPr>
            </a:pPr>
            <a:r>
              <a:t>Repository: logseq/db-test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34495E"/>
                </a:solidFill>
              </a:defRPr>
            </a:pPr>
            <a:r>
              <a:t>Generated: November 25,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Executive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2286000" cy="1645920"/>
          </a:xfrm>
          <a:prstGeom prst="rect">
            <a:avLst/>
          </a:prstGeom>
          <a:solidFill>
            <a:srgbClr val="2C3E50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609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Total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371600"/>
            <a:ext cx="2286000" cy="1645920"/>
          </a:xfrm>
          <a:prstGeom prst="rect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16459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3774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Open Issues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371600"/>
            <a:ext cx="2286000" cy="1645920"/>
          </a:xfrm>
          <a:prstGeom prst="rect">
            <a:avLst/>
          </a:prstGeom>
          <a:solidFill>
            <a:srgbClr val="2ECC71"/>
          </a:solidFill>
          <a:ln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16459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435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3774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Closed Issues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657600"/>
            <a:ext cx="2286000" cy="164592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9319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71.4%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Resolution 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3657600"/>
            <a:ext cx="2286000" cy="1645920"/>
          </a:xfrm>
          <a:prstGeom prst="rect">
            <a:avLst/>
          </a:prstGeom>
          <a:solidFill>
            <a:srgbClr val="F1C40F"/>
          </a:solidFill>
          <a:ln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39319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3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6634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Avg Close 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3657600"/>
            <a:ext cx="2286000" cy="1645920"/>
          </a:xfrm>
          <a:prstGeom prst="rect">
            <a:avLst/>
          </a:prstGeom>
          <a:solidFill>
            <a:srgbClr val="34495E"/>
          </a:solidFill>
          <a:ln>
            <a:solidFill>
              <a:srgbClr val="3449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0" y="3931920"/>
            <a:ext cx="2286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76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6634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Contributors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All Issues by Label</a:t>
            </a:r>
          </a:p>
        </p:txBody>
      </p:sp>
      <p:pic>
        <p:nvPicPr>
          <p:cNvPr id="3" name="Picture 2" descr="all_issues_by_lab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9000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Currently Open Issues by Label</a:t>
            </a:r>
          </a:p>
        </p:txBody>
      </p:sp>
      <p:pic>
        <p:nvPicPr>
          <p:cNvPr id="3" name="Picture 2" descr="open_issues_by_lab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8967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Issue Status Summary</a:t>
            </a:r>
          </a:p>
        </p:txBody>
      </p:sp>
      <p:pic>
        <p:nvPicPr>
          <p:cNvPr id="3" name="Picture 2" descr="issue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66646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029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3498DB"/>
                </a:solidFill>
              </a:defRPr>
            </a:pPr>
            <a:r>
              <a:t>Resolution Rate: 71.4% | Median Time to Close: 3 days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Top Issue Reporters</a:t>
            </a:r>
          </a:p>
        </p:txBody>
      </p:sp>
      <p:pic>
        <p:nvPicPr>
          <p:cNvPr id="3" name="Picture 2" descr="top_repor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8944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Top Problem Areas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solidFill>
            <a:srgbClr val="ECF0F1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3E50"/>
                </a:solidFill>
              </a:defRPr>
            </a:pPr>
            <a:r>
              <a:t>#111: Page names with page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19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4495E"/>
                </a:solidFill>
              </a:defRPr>
            </a:pPr>
            <a:r>
              <a:t>Age: 432 days | Comments: 7 | Labels: bug, minor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68880"/>
            <a:ext cx="8229600" cy="1188720"/>
          </a:xfrm>
          <a:prstGeom prst="rect">
            <a:avLst/>
          </a:prstGeom>
          <a:solidFill>
            <a:srgbClr val="ECF0F1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3E50"/>
                </a:solidFill>
              </a:defRPr>
            </a:pPr>
            <a:r>
              <a:t>#113: `/` is not visible for page references starting with `/`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4495E"/>
                </a:solidFill>
              </a:defRPr>
            </a:pPr>
            <a:r>
              <a:t>Age: 431 days | Comments: 3 | Labels: bug, can reproduce, minor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840480"/>
            <a:ext cx="8229600" cy="1188720"/>
          </a:xfrm>
          <a:prstGeom prst="rect">
            <a:avLst/>
          </a:prstGeom>
          <a:solidFill>
            <a:srgbClr val="ECF0F1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3E50"/>
                </a:solidFill>
              </a:defRPr>
            </a:pPr>
            <a:r>
              <a:t>#98: Tags as properties not showing as edges in 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4495E"/>
                </a:solidFill>
              </a:defRPr>
            </a:pPr>
            <a:r>
              <a:t>Age: 435 days | Comments: 1 | Labels: graph-view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212080"/>
            <a:ext cx="8229600" cy="1188720"/>
          </a:xfrm>
          <a:prstGeom prst="rect">
            <a:avLst/>
          </a:prstGeom>
          <a:solidFill>
            <a:srgbClr val="ECF0F1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30352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C3E50"/>
                </a:solidFill>
              </a:defRPr>
            </a:pPr>
            <a:r>
              <a:t>#187: No blank entry for today in Journals view with latest feat/db (non-db mode)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76072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4495E"/>
                </a:solidFill>
              </a:defRPr>
            </a:pPr>
            <a:r>
              <a:t>Age: 346 days | Comments: 5 | Labels: can't reproduce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Commit Activity Trend</a:t>
            </a:r>
          </a:p>
        </p:txBody>
      </p:sp>
      <p:pic>
        <p:nvPicPr>
          <p:cNvPr id="3" name="Picture 2" descr="commit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8944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Top Code Contributors</a:t>
            </a:r>
          </a:p>
        </p:txBody>
      </p:sp>
      <p:pic>
        <p:nvPicPr>
          <p:cNvPr id="3" name="Picture 2" descr="top_contribu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48944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Project Health Assessment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ECF0F1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Issue Resolution 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32588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4495E"/>
                </a:solidFill>
              </a:defRPr>
            </a:pPr>
            <a:r>
              <a:t>71.4%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132588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ECC71"/>
                </a:solidFill>
              </a:defRPr>
            </a:pPr>
            <a:r>
              <a:t>High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solidFill>
            <a:srgbClr val="ECF0F1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Monthly Commit Velocity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42316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4495E"/>
                </a:solidFill>
              </a:defRPr>
            </a:pPr>
            <a:r>
              <a:t>337 commits/month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42316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ECC71"/>
                </a:solidFill>
              </a:defRPr>
            </a:pPr>
            <a:r>
              <a:t>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solidFill>
            <a:srgbClr val="ECF0F1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Active Contributors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52044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4495E"/>
                </a:solidFill>
              </a:defRPr>
            </a:pPr>
            <a:r>
              <a:t>76 total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352044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ECC71"/>
                </a:solidFill>
              </a:defRPr>
            </a:pPr>
            <a:r>
              <a:t>High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480560"/>
            <a:ext cx="8229600" cy="914400"/>
          </a:xfrm>
          <a:prstGeom prst="rect">
            <a:avLst/>
          </a:prstGeom>
          <a:solidFill>
            <a:srgbClr val="ECF0F1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61772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Avg Contributors/Month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617720"/>
            <a:ext cx="2286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4495E"/>
                </a:solidFill>
              </a:defRPr>
            </a:pPr>
            <a:r>
              <a:t>7.7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4617720"/>
            <a:ext cx="1371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1C40F"/>
                </a:solidFill>
              </a:defRPr>
            </a:pPr>
            <a:r>
              <a:t>Medium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Strategic Recommendations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097280"/>
            <a:ext cx="365760" cy="365760"/>
          </a:xfrm>
          <a:prstGeom prst="ellipse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051560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t>Address High-Priority Issues: Focus on resolving the oldest open issues with high engagement to improve user satisfaction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965960"/>
            <a:ext cx="365760" cy="365760"/>
          </a:xfrm>
          <a:prstGeom prst="ellipse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t>Improve Issue Triage: Implement better labeling and prioritization for incoming issues to reduce resolution time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834639"/>
            <a:ext cx="365760" cy="365760"/>
          </a:xfrm>
          <a:prstGeom prst="ellipse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834639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788920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t>Expand Contributor Base: Actively recruit and onboard new contributors to reduce dependency on core team members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703320"/>
            <a:ext cx="365760" cy="365760"/>
          </a:xfrm>
          <a:prstGeom prst="ellipse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7033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657600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t>Establish Response SLAs: Set target response times for different issue types to improve community engagement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572000"/>
            <a:ext cx="365760" cy="365760"/>
          </a:xfrm>
          <a:prstGeom prst="ellipse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5720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526280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t>Regular Health Reviews: Schedule monthly reviews of project health metrics to identify trends early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5440680"/>
            <a:ext cx="365760" cy="365760"/>
          </a:xfrm>
          <a:prstGeom prst="ellipse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4406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394960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t>Documentation Focus: Address documentation-related issues to reduce support burden and improve onboarding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